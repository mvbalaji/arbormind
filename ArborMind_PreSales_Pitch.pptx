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Open by asking: 'How many tools does your team use today just to close a deal?' ArborMind collapses that stack into one AI-native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'How many of these sound familiar?' Each card maps to a tool your prospect is paying for separately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ArborMind as the single source of truth for the entire customer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left-to-right, top-to-bottom. Pause on AI Assistant and Contract Lifecycle — biggest differentiators vs. HubSpot or Salesforce Essentials.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is an agent with access to live CRM data — it can search leads, draft contracts and enrich accounts without leaving the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where traditional CRMs require a different tool. ArborMind handles all six natively.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left to right. Dashboard sits at the top monitoring every entity in real time. The dashed lines show monitoring connections; solid arrows show data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CLM is a key differentiator — it typically requires a separate $20k+ tool. ArborMind includes it natively with versioning, auto-renewal, and configurable approval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numbered stage. The dashed arc at the bottom shows the renegotiation feedback loop — when a renewal triggers a new negotiation cycle it creates a new Draft from stage 3, not a new contract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tiers: React SPA → Express.js API → PostgreSQL. All packages share types via the OpenAPI spec. External services connect to the API tier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packages are actively maintained, latest versions. One PR can update a shared library and propagate through all apps with full type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permission tiers is a key differentiator. Most CRMs only have screen-level RBAC. Record-level RLAC means a rep can see the Contracts screen but only view their own contracts.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table speak. The rightmost two columns represent the status quo your prospect is living with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do not share externally until pricing is finalised. Replace all bracketed values with agreed commercial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energy. Offer to start the sandbox setup immediately — removing friction from the next step is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468880"/>
            <a:ext cx="4023360" cy="402336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1828800"/>
            <a:ext cx="2743200" cy="2743200"/>
          </a:xfrm>
          <a:prstGeom prst="ellipse">
            <a:avLst/>
          </a:prstGeom>
          <a:solidFill>
            <a:srgbClr val="4FAEFC">
              <a:alpha val="45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03120" y="2011680"/>
            <a:ext cx="3291840" cy="329184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pic>
        <p:nvPicPr>
          <p:cNvPr id="5" name="Image 0" descr="C:\Partha\CRM\arbormindproduction\arbormindproduction\artifacts\crmai\public\arbormin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1945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43000"/>
            <a:ext cx="4572000" cy="0"/>
          </a:xfrm>
          <a:prstGeom prst="line">
            <a:avLst/>
          </a:prstGeom>
          <a:noFill/>
          <a:ln w="19050">
            <a:solidFill>
              <a:srgbClr val="0375D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FAEFC"/>
                </a:solidFill>
              </a:rPr>
              <a:t>Pre-Sales Pitch  ·  Confidential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CRM for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Revenue Teams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your entire revenue cycle — from first touch to signed contract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powered by Anthropic Claude AI.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407408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0A3D7A"/>
          </a:solidFill>
          <a:ln w="22860">
            <a:solidFill>
              <a:srgbClr val="0375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AEFC"/>
                </a:solidFill>
              </a:rPr>
              <a:t>39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4690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90B0"/>
                </a:solidFill>
              </a:rPr>
              <a:t>Data Entities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06040" y="4407408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0A3D7A"/>
          </a:solidFill>
          <a:ln w="22860">
            <a:solidFill>
              <a:srgbClr val="0375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604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AEFC"/>
                </a:solidFill>
              </a:rPr>
              <a:t>35+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606040" y="4690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90B0"/>
                </a:solidFill>
              </a:rPr>
              <a:t>API Modules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4407408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0A3D7A"/>
          </a:solidFill>
          <a:ln w="22860">
            <a:solidFill>
              <a:srgbClr val="0375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AEFC"/>
                </a:solidFill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754880" y="4690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90B0"/>
                </a:solidFill>
              </a:rPr>
              <a:t>AI Engines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03720" y="4407408"/>
            <a:ext cx="2011680" cy="594360"/>
          </a:xfrm>
          <a:prstGeom prst="roundRect">
            <a:avLst>
              <a:gd name="adj" fmla="val 10769"/>
            </a:avLst>
          </a:prstGeom>
          <a:solidFill>
            <a:srgbClr val="0A3D7A"/>
          </a:solidFill>
          <a:ln w="22860">
            <a:solidFill>
              <a:srgbClr val="0375D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AEFC"/>
                </a:solidFill>
              </a:rPr>
              <a:t>CLM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903720" y="4690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90B0"/>
                </a:solidFill>
              </a:rPr>
              <a:t>Full Contracts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972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lose deals to fragmented, outdated tools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706624" cy="388620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9032" y="1170432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839" y="1223239"/>
            <a:ext cx="534467" cy="5344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2024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9"/>
                </a:solidFill>
              </a:rPr>
              <a:t>Siloed Systems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2340864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58B"/>
                </a:solidFill>
              </a:rPr>
              <a:t>Sales, contracts, email and approvals live in 4+ separate tools. No unified view of the customer.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242816"/>
            <a:ext cx="2340864" cy="420624"/>
          </a:xfrm>
          <a:prstGeom prst="roundRect">
            <a:avLst>
              <a:gd name="adj" fmla="val 15217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24281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4+ tools per rep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987552"/>
            <a:ext cx="2706624" cy="388620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33672" y="117043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479" y="1223239"/>
            <a:ext cx="534467" cy="5344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192024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9"/>
                </a:solidFill>
              </a:rPr>
              <a:t>Zero AI Intelligence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337560" y="2340864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58B"/>
                </a:solidFill>
              </a:rPr>
              <a:t>Manual lead research, no scoring, no enrichment. Reps spend 30% of their day on admin work.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383280" y="4242816"/>
            <a:ext cx="2340864" cy="420624"/>
          </a:xfrm>
          <a:prstGeom prst="roundRect">
            <a:avLst>
              <a:gd name="adj" fmla="val 15217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83280" y="424281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30% time on admin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987552"/>
            <a:ext cx="2706624" cy="388620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68312" y="1170432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119" y="1223239"/>
            <a:ext cx="534467" cy="5344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192024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9"/>
                </a:solidFill>
              </a:rPr>
              <a:t>Contract Chaos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172200" y="2340864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58B"/>
                </a:solidFill>
              </a:rPr>
              <a:t>Contracts emailed as attachments with no versioning, no audit trail, missed renewals and lost revenue.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17920" y="4242816"/>
            <a:ext cx="2340864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17920" y="4242816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40% missed renewals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3657600" cy="365760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2560320" cy="2560320"/>
          </a:xfrm>
          <a:prstGeom prst="ellipse">
            <a:avLst/>
          </a:prstGeom>
          <a:solidFill>
            <a:srgbClr val="4FAEFC">
              <a:alpha val="45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920240" y="3108960"/>
            <a:ext cx="2926080" cy="292608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pic>
        <p:nvPicPr>
          <p:cNvPr id="5" name="Image 0" descr="C:\Partha\CRM\arbormindproduction\arbormindproduction\artifacts\crmai\public\arbormin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920240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FAEFC"/>
                </a:solidFill>
              </a:rPr>
              <a:t>ONE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16736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revenue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conversation. One place.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ArborMind CRM unifies Lead Management, Pipeline, Quoting, Contract Lifecycle, Approvals, Email and AI Intelligence — without stitching together point solutions.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94960" y="749808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375D3">
              <a:alpha val="18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59552" y="1024128"/>
            <a:ext cx="621792" cy="621792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850" y="1075426"/>
            <a:ext cx="519196" cy="5191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996696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AI-Powered Intelligence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394960" y="2139696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375D3">
              <a:alpha val="18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59552" y="2414016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850" y="2465314"/>
            <a:ext cx="519196" cy="5191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386584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Unified Revenue Platform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394960" y="3529584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375D3">
              <a:alpha val="18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59552" y="3803904"/>
            <a:ext cx="621792" cy="6217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850" y="3855202"/>
            <a:ext cx="519196" cy="5191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3776472"/>
            <a:ext cx="2331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Enterprise-Grade Security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80"/>
                </a:solidFill>
              </a:rPr>
              <a:t>Built on React 19  ·  Express.js  ·  PostgreSQL  ·  Anthropic Claude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COMPLETE FEATURE 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revenue team needs — nothing they don't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93268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088136"/>
            <a:ext cx="603504" cy="603504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77" y="1137925"/>
            <a:ext cx="503926" cy="5039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1755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Lead &amp; Contact Mgmt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084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Capture, score, enrich and convert leads into opportunities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95728" y="93268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45536" y="1088136"/>
            <a:ext cx="603504" cy="6035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25" y="1137925"/>
            <a:ext cx="503926" cy="5039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95728" y="1755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Pipeline &amp; Deals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487168" y="2084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Kanban pipeline, stage history and multi-currency forecasting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08576" y="93268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58384" y="1088136"/>
            <a:ext cx="603504" cy="6035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173" y="1137925"/>
            <a:ext cx="503926" cy="5039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08576" y="1755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Quotes &amp; Orders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00016" y="2084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Price book builder, approval flows and one-click PDF export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21424" y="93268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71232" y="1088136"/>
            <a:ext cx="603504" cy="603504"/>
          </a:xfrm>
          <a:prstGeom prst="ellipse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021" y="1137925"/>
            <a:ext cx="503926" cy="5039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21424" y="1755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Contract Lifecycle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12864" y="208483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CLM templates, versioning, renewals and expiry alerts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182880" y="294436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2688" y="3099816"/>
            <a:ext cx="603504" cy="6035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77" y="3149605"/>
            <a:ext cx="503926" cy="5039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2880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Campaigns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74320" y="4096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Member lists, engagement events and UTM attribution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395728" y="294436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45536" y="3099816"/>
            <a:ext cx="603504" cy="6035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325" y="3149605"/>
            <a:ext cx="503926" cy="5039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395728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Email Integration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487168" y="4096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IMAP inbox sync, SMTP sending and open/click tracking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08576" y="294436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358384" y="3099816"/>
            <a:ext cx="603504" cy="603504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8173" y="3149605"/>
            <a:ext cx="503926" cy="50392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08576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AI Assistant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00016" y="4096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Anthropic Claude agentic tools for research and automation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821424" y="2944368"/>
            <a:ext cx="2103120" cy="1865376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571232" y="3099816"/>
            <a:ext cx="603504" cy="6035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1021" y="3149605"/>
            <a:ext cx="503926" cy="50392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21424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9"/>
                </a:solidFill>
              </a:rPr>
              <a:t>Access Control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912864" y="409651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RBAC + record-level permissions with full audit logs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3657600" cy="365760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731520"/>
            <a:ext cx="2194560" cy="2194560"/>
          </a:xfrm>
          <a:prstGeom prst="ellipse">
            <a:avLst/>
          </a:prstGeom>
          <a:solidFill>
            <a:srgbClr val="4FAEFC">
              <a:alpha val="45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AI-POWERED INTELLIGENCE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AI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Copilot</a:t>
            </a:r>
            <a:endParaRPr lang="en-US" sz="3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572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292608"/>
            <a:ext cx="2514600" cy="420624"/>
          </a:xfrm>
          <a:prstGeom prst="roundRect">
            <a:avLst>
              <a:gd name="adj" fmla="val 15217"/>
            </a:avLst>
          </a:prstGeom>
          <a:solidFill>
            <a:srgbClr val="0375D3">
              <a:alpha val="28000"/>
            </a:srgbClr>
          </a:solidFill>
          <a:ln w="12700">
            <a:solidFill>
              <a:srgbClr val="4FAEFC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29260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AEFC"/>
                </a:solidFill>
              </a:rPr>
              <a:t>Powered by Anthropic Claude + OpenAI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032" y="2487168"/>
            <a:ext cx="2798064" cy="2450592"/>
          </a:xfrm>
          <a:prstGeom prst="roundRect">
            <a:avLst>
              <a:gd name="adj" fmla="val 3731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3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3312" y="2651760"/>
            <a:ext cx="603504" cy="603504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1" y="2701549"/>
            <a:ext cx="503926" cy="5039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" y="331927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Lead Intelligence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0624" y="3694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Company website research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20624" y="3968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Buyer type classification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20624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AI-scored lead ranking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20624" y="4517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Contact discovery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182112" y="2487168"/>
            <a:ext cx="2798064" cy="2450592"/>
          </a:xfrm>
          <a:prstGeom prst="roundRect">
            <a:avLst>
              <a:gd name="adj" fmla="val 3731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3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79392" y="2651760"/>
            <a:ext cx="603504" cy="6035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181" y="2701549"/>
            <a:ext cx="503926" cy="5039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82112" y="331927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Agentic Automation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346704" y="3694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Live CRM data queries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346704" y="3968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Document generation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346704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Email drafting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346704" y="4517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Opportunity insights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08192" y="2487168"/>
            <a:ext cx="2798064" cy="2450592"/>
          </a:xfrm>
          <a:prstGeom prst="roundRect">
            <a:avLst>
              <a:gd name="adj" fmla="val 3731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3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05472" y="2651760"/>
            <a:ext cx="603504" cy="6035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261" y="2701549"/>
            <a:ext cx="503926" cy="50392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08192" y="331927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Analytics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272784" y="3694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Pipeline health scoring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272784" y="3968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Campaign attribution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272784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Win/loss patterns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272784" y="4517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✓  Renewal forecasting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END-TO-END REVENUE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touch to signed contract — all in one system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005840" cy="1005840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859536" cy="859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52144" y="877824"/>
            <a:ext cx="329184" cy="329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375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52144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75D3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288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Capture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2880" y="23225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Website visitor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UTM lead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389888" y="1892808"/>
            <a:ext cx="347472" cy="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11096" y="1005840"/>
            <a:ext cx="1005840" cy="10058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078992"/>
            <a:ext cx="859536" cy="8595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606040" y="877824"/>
            <a:ext cx="329184" cy="329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06040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636776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Enrich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636776" y="23225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AI scoring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research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843784" y="1892808"/>
            <a:ext cx="347472" cy="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64992" y="1005840"/>
            <a:ext cx="100584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078992"/>
            <a:ext cx="859536" cy="8595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059936" y="877824"/>
            <a:ext cx="329184" cy="329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059936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09067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Qualify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090672" y="23225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Pipeline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opportunity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297680" y="1892808"/>
            <a:ext cx="347472" cy="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18888" y="1005840"/>
            <a:ext cx="1005840" cy="10058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78992"/>
            <a:ext cx="859536" cy="85953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513832" y="877824"/>
            <a:ext cx="329184" cy="329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513832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44568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Quote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44568" y="23225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Price book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approval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751576" y="1892808"/>
            <a:ext cx="347472" cy="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272784" y="1005840"/>
            <a:ext cx="1005840" cy="1005840"/>
          </a:xfrm>
          <a:prstGeom prst="ellipse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078992"/>
            <a:ext cx="859536" cy="85953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967728" y="877824"/>
            <a:ext cx="329184" cy="329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32D6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967728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2D60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998464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Contract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998464" y="23225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CLM template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&amp; sign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7205472" y="1892808"/>
            <a:ext cx="347472" cy="0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726680" y="1005840"/>
            <a:ext cx="1005840" cy="10058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3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1078992"/>
            <a:ext cx="859536" cy="859536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421624" y="877824"/>
            <a:ext cx="329184" cy="32918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16A34A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421624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45236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</a:rPr>
              <a:t>Renew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7452360" y="23225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Auto-renewal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alerts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237744" y="4169664"/>
            <a:ext cx="8668512" cy="777240"/>
          </a:xfrm>
          <a:prstGeom prst="roundRect">
            <a:avLst>
              <a:gd name="adj" fmla="val 10588"/>
            </a:avLst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75488" y="42153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EFC"/>
                </a:solidFill>
              </a:rPr>
              <a:t>&lt; 2 min</a:t>
            </a:r>
            <a:endParaRPr lang="en-US" sz="1400" dirty="0"/>
          </a:p>
        </p:txBody>
      </p:sp>
      <p:sp>
        <p:nvSpPr>
          <p:cNvPr id="48" name="Text 40"/>
          <p:cNvSpPr/>
          <p:nvPr/>
        </p:nvSpPr>
        <p:spPr>
          <a:xfrm>
            <a:off x="475488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Lead to scoring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2642616" y="42153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EFC"/>
                </a:solidFill>
              </a:rPr>
              <a:t>Real-time</a:t>
            </a:r>
            <a:endParaRPr lang="en-US" sz="1400" dirty="0"/>
          </a:p>
        </p:txBody>
      </p:sp>
      <p:sp>
        <p:nvSpPr>
          <p:cNvPr id="50" name="Text 42"/>
          <p:cNvSpPr/>
          <p:nvPr/>
        </p:nvSpPr>
        <p:spPr>
          <a:xfrm>
            <a:off x="2642616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AI enrichment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4809744" y="42153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EFC"/>
                </a:solidFill>
              </a:rPr>
              <a:t>1 click</a:t>
            </a:r>
            <a:endParaRPr lang="en-US" sz="1400" dirty="0"/>
          </a:p>
        </p:txBody>
      </p:sp>
      <p:sp>
        <p:nvSpPr>
          <p:cNvPr id="52" name="Text 44"/>
          <p:cNvSpPr/>
          <p:nvPr/>
        </p:nvSpPr>
        <p:spPr>
          <a:xfrm>
            <a:off x="4809744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Quote to order</a:t>
            </a:r>
            <a:endParaRPr lang="en-US" sz="900" dirty="0"/>
          </a:p>
        </p:txBody>
      </p:sp>
      <p:sp>
        <p:nvSpPr>
          <p:cNvPr id="53" name="Text 45"/>
          <p:cNvSpPr/>
          <p:nvPr/>
        </p:nvSpPr>
        <p:spPr>
          <a:xfrm>
            <a:off x="6976872" y="42153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EFC"/>
                </a:solidFill>
              </a:rPr>
              <a:t>Zero</a:t>
            </a:r>
            <a:endParaRPr lang="en-US" sz="1400" dirty="0"/>
          </a:p>
        </p:txBody>
      </p:sp>
      <p:sp>
        <p:nvSpPr>
          <p:cNvPr id="54" name="Text 46"/>
          <p:cNvSpPr/>
          <p:nvPr/>
        </p:nvSpPr>
        <p:spPr>
          <a:xfrm>
            <a:off x="6976872" y="4526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</a:rPr>
              <a:t>Missed renewals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CRM DATA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entity journey — Dashboard → Lead → Contact → Opportunity → Quote → Order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77824"/>
            <a:ext cx="8961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384048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01168" y="215798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4FA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201168" y="29809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EC8"/>
                </a:solidFill>
              </a:rPr>
              <a:t>End-to-end contract control from template to renewal.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822192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47872" y="832104"/>
            <a:ext cx="0" cy="429768"/>
          </a:xfrm>
          <a:prstGeom prst="line">
            <a:avLst/>
          </a:prstGeom>
          <a:noFill/>
          <a:ln w="19050">
            <a:solidFill>
              <a:srgbClr val="D9E0E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273552" y="301752"/>
            <a:ext cx="530352" cy="530352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3552" y="301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13632" y="246888"/>
            <a:ext cx="5010912" cy="676656"/>
          </a:xfrm>
          <a:prstGeom prst="roundRect">
            <a:avLst>
              <a:gd name="adj" fmla="val 9459"/>
            </a:avLst>
          </a:prstGeom>
          <a:solidFill>
            <a:srgbClr val="ECEFF4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8224" y="2743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75D3"/>
                </a:solidFill>
              </a:rPr>
              <a:t>Template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78224" y="5852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Reusable CLM templates with merge fields and clause libraries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47872" y="1755648"/>
            <a:ext cx="0" cy="429768"/>
          </a:xfrm>
          <a:prstGeom prst="line">
            <a:avLst/>
          </a:prstGeom>
          <a:noFill/>
          <a:ln w="19050">
            <a:solidFill>
              <a:srgbClr val="D9E0E8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273552" y="1225296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73552" y="1225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13632" y="1170432"/>
            <a:ext cx="5010912" cy="676656"/>
          </a:xfrm>
          <a:prstGeom prst="roundRect">
            <a:avLst>
              <a:gd name="adj" fmla="val 9459"/>
            </a:avLst>
          </a:prstGeom>
          <a:solidFill>
            <a:srgbClr val="ECEFF4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8224" y="11978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Draft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078224" y="1508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Rich text editor with version history and diff comparison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47872" y="2679192"/>
            <a:ext cx="0" cy="429768"/>
          </a:xfrm>
          <a:prstGeom prst="line">
            <a:avLst/>
          </a:prstGeom>
          <a:noFill/>
          <a:ln w="19050">
            <a:solidFill>
              <a:srgbClr val="D9E0E8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273552" y="2148840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73552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13632" y="2093976"/>
            <a:ext cx="5010912" cy="676656"/>
          </a:xfrm>
          <a:prstGeom prst="roundRect">
            <a:avLst>
              <a:gd name="adj" fmla="val 9459"/>
            </a:avLst>
          </a:prstGeom>
          <a:solidFill>
            <a:srgbClr val="ECEFF4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78224" y="21214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Approval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078224" y="24323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Multi-stage role-based routing with conditional approval rules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547872" y="3602736"/>
            <a:ext cx="0" cy="429768"/>
          </a:xfrm>
          <a:prstGeom prst="line">
            <a:avLst/>
          </a:prstGeom>
          <a:noFill/>
          <a:ln w="19050">
            <a:solidFill>
              <a:srgbClr val="D9E0E8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3273552" y="3072384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73552" y="3072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913632" y="3017520"/>
            <a:ext cx="5010912" cy="676656"/>
          </a:xfrm>
          <a:prstGeom prst="roundRect">
            <a:avLst>
              <a:gd name="adj" fmla="val 9459"/>
            </a:avLst>
          </a:prstGeom>
          <a:solidFill>
            <a:srgbClr val="ECEFF4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78224" y="30449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Active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078224" y="3355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Executed contract with milestone and obligation management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73552" y="399592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73552" y="3995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913632" y="3941064"/>
            <a:ext cx="5010912" cy="676656"/>
          </a:xfrm>
          <a:prstGeom prst="roundRect">
            <a:avLst>
              <a:gd name="adj" fmla="val 9459"/>
            </a:avLst>
          </a:prstGeom>
          <a:solidFill>
            <a:srgbClr val="ECEFF4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78224" y="39684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Renewal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078224" y="42793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Auto-renewal tracking, expiry alerts and renegotiation triggers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CLM 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Template → Draft → Review → Redline → Approval → Executed → Active → Renewal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77824"/>
            <a:ext cx="89611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TypeScript monorepo — built for reliability and scale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896112"/>
            <a:ext cx="8924544" cy="4133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proven and production-ready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743200" cy="621792"/>
          </a:xfrm>
          <a:prstGeom prst="roundRect">
            <a:avLst>
              <a:gd name="adj" fmla="val 13235"/>
            </a:avLst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512064" cy="51206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005" y="1029797"/>
            <a:ext cx="427573" cy="4275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93268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Frontend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74320" y="16459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645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React 19.1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066544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206654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TypeScript 5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48716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24871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Vite 7.3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907792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290779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TanStack Query 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3328416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" y="332841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Radix UI (full suite)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374904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" y="37490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TailwindCSS 4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4169664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" y="416966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Recharts 2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74320" y="459028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2336" y="45902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Framer Motion 12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63824" y="932688"/>
            <a:ext cx="2743200" cy="621792"/>
          </a:xfrm>
          <a:prstGeom prst="roundRect">
            <a:avLst>
              <a:gd name="adj" fmla="val 13235"/>
            </a:avLst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55264" y="987552"/>
            <a:ext cx="512064" cy="51206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09" y="1029797"/>
            <a:ext cx="427573" cy="42757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877056" y="93268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Backend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3163824" y="16459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91840" y="1645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Express.js 5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163824" y="2066544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91840" y="206654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Node.js ≥ 18 (ESM)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163824" y="248716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91840" y="24871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TypeScript 5.9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163824" y="2907792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291840" y="290779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Passport.js + OAuth 2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163824" y="3328416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91840" y="332841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Drizzle ORM 0.45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3163824" y="374904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91840" y="37490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Pino structured logging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163824" y="4169664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291840" y="416966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Nodemailer (SMTP)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3163824" y="459028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91840" y="45902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imapflow (IMAP)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6053328" y="932688"/>
            <a:ext cx="2743200" cy="621792"/>
          </a:xfrm>
          <a:prstGeom prst="roundRect">
            <a:avLst>
              <a:gd name="adj" fmla="val 132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144768" y="987552"/>
            <a:ext cx="512064" cy="51206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013" y="1029797"/>
            <a:ext cx="427573" cy="427573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766560" y="93268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&amp; AI</a:t>
            </a:r>
            <a:endParaRPr lang="en-US" sz="1700" dirty="0"/>
          </a:p>
        </p:txBody>
      </p:sp>
      <p:sp>
        <p:nvSpPr>
          <p:cNvPr id="49" name="Shape 44"/>
          <p:cNvSpPr/>
          <p:nvPr/>
        </p:nvSpPr>
        <p:spPr>
          <a:xfrm>
            <a:off x="6053328" y="16459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181344" y="1645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6053328" y="2066544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181344" y="206654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39 typed schemas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6053328" y="248716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181344" y="24871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Drizzle migrations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6053328" y="2907792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181344" y="2907792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Anthropic Claude API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6053328" y="3328416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181344" y="332841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OpenAI API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6053328" y="374904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181344" y="374904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PDFKit / jsPDF</a:t>
            </a:r>
            <a:endParaRPr lang="en-US" sz="1050" dirty="0"/>
          </a:p>
        </p:txBody>
      </p:sp>
      <p:sp>
        <p:nvSpPr>
          <p:cNvPr id="61" name="Shape 56"/>
          <p:cNvSpPr/>
          <p:nvPr/>
        </p:nvSpPr>
        <p:spPr>
          <a:xfrm>
            <a:off x="6053328" y="4169664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181344" y="416966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XLSX bulk import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6053328" y="4590288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ECEFF4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181344" y="459028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9"/>
                </a:solidFill>
              </a:rPr>
              <a:t>Webhook engine</a:t>
            </a:r>
            <a:endParaRPr lang="en-US" sz="1050" dirty="0"/>
          </a:p>
        </p:txBody>
      </p:sp>
      <p:sp>
        <p:nvSpPr>
          <p:cNvPr id="65" name="Shape 60"/>
          <p:cNvSpPr/>
          <p:nvPr/>
        </p:nvSpPr>
        <p:spPr>
          <a:xfrm>
            <a:off x="274320" y="4791456"/>
            <a:ext cx="8595360" cy="228600"/>
          </a:xfrm>
          <a:prstGeom prst="roundRect">
            <a:avLst>
              <a:gd name="adj" fmla="val 20000"/>
            </a:avLst>
          </a:prstGeom>
          <a:solidFill>
            <a:srgbClr val="032D60">
              <a:alpha val="90000"/>
            </a:srgbClr>
          </a:solidFill>
          <a:ln w="12700">
            <a:solidFill>
              <a:srgbClr val="0375D3">
                <a:alpha val="35000"/>
              </a:srgbClr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274320" y="479145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AEFC"/>
                </a:solidFill>
              </a:rPr>
              <a:t>pnpm Monorepo  ·  OpenAPI spec + orval code-gen  ·  Zod validation end-to-end  ·  esbuild  ·  Google OAuth 2.0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914400"/>
            <a:ext cx="3291840" cy="329184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651760"/>
            <a:ext cx="2926080" cy="2926080"/>
          </a:xfrm>
          <a:prstGeom prst="ellipse">
            <a:avLst/>
          </a:prstGeom>
          <a:solidFill>
            <a:srgbClr val="4FAEFC">
              <a:alpha val="45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SECURITY &amp; ACCESS CONTROL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protection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record and every role</a:t>
            </a:r>
            <a:endParaRPr lang="en-US" sz="3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29184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011680"/>
            <a:ext cx="4251960" cy="1389888"/>
          </a:xfrm>
          <a:prstGeom prst="roundRect">
            <a:avLst>
              <a:gd name="adj" fmla="val 6579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" y="2359152"/>
            <a:ext cx="621792" cy="621792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22" y="2410450"/>
            <a:ext cx="519196" cy="519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13969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Google OAuth 2.0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07008" y="2505456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Secure SSO login. 7-day encrypted sessions in PostgreSQL. HTTP-only cookies.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54880" y="2011680"/>
            <a:ext cx="4251960" cy="1389888"/>
          </a:xfrm>
          <a:prstGeom prst="roundRect">
            <a:avLst>
              <a:gd name="adj" fmla="val 6579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01184" y="2359152"/>
            <a:ext cx="621792" cy="6217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482" y="2410450"/>
            <a:ext cx="519196" cy="5191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87568" y="2139696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Access (RBAC)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87568" y="2505456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Admin / Super Admin / Manager / Rep — per-screen levels: none / view / read-only / edit.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74320" y="3584448"/>
            <a:ext cx="4251960" cy="1389888"/>
          </a:xfrm>
          <a:prstGeom prst="roundRect">
            <a:avLst>
              <a:gd name="adj" fmla="val 6579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20624" y="3931920"/>
            <a:ext cx="621792" cy="6217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2" y="3983218"/>
            <a:ext cx="519196" cy="5191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371246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Record-Level Permissions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207008" y="4078224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Granular CRUD per role per record type — Lead, Opportunity, Contract, Account and more.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754880" y="3584448"/>
            <a:ext cx="4251960" cy="1389888"/>
          </a:xfrm>
          <a:prstGeom prst="roundRect">
            <a:avLst>
              <a:gd name="adj" fmla="val 6579"/>
            </a:avLst>
          </a:prstGeom>
          <a:solidFill>
            <a:srgbClr val="0375D3">
              <a:alpha val="20000"/>
            </a:srgbClr>
          </a:solidFill>
          <a:ln w="12700">
            <a:solidFill>
              <a:srgbClr val="4FAEFC">
                <a:alpha val="4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901184" y="3931920"/>
            <a:ext cx="621792" cy="6217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482" y="3983218"/>
            <a:ext cx="519196" cy="5191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87568" y="371246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Immutable Audit Logs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687568" y="4078224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DD8"/>
                </a:solidFill>
              </a:rPr>
              <a:t>Every permission change recorded with timestamp, actor, and old/new value.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WHY ARBORMIND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 against traditional CRM and point solutions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932688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3268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9464" y="932688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464" y="9326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ArborMind CRM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18888" y="932688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93268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Traditional CRM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76872" y="932688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93268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Point Solutions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408176"/>
            <a:ext cx="23317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4081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AI Lead Intelligence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9464" y="1408176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140817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Built-in (Claude)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1408176"/>
            <a:ext cx="21031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4081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✗ Add-on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76872" y="1408176"/>
            <a:ext cx="1993392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1408176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Separate tool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1901952"/>
            <a:ext cx="2331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019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Contract Lifecycle (CLM)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9464" y="1901952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19019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Full CLM module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18888" y="1901952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901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✗ Not included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76872" y="1901952"/>
            <a:ext cx="199339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1901952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Separate $20k+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" y="2395728"/>
            <a:ext cx="23317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3957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Multi-stage Approvals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9464" y="2395728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60904" y="239572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Configurable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18888" y="2395728"/>
            <a:ext cx="21031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23957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✗ Basic or none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76872" y="2395728"/>
            <a:ext cx="1993392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2395728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Manual process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" y="2889504"/>
            <a:ext cx="2331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889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Email + IMAP Sync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69464" y="2889504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60904" y="288950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Native inbox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18888" y="2889504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288950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Basic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76872" y="2889504"/>
            <a:ext cx="199339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2889504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Separate tool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82880" y="3383280"/>
            <a:ext cx="23317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83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Record-Level Permissions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9464" y="3383280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60904" y="338328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RBAC + RLAC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18888" y="3383280"/>
            <a:ext cx="21031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338328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Limited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76872" y="3383280"/>
            <a:ext cx="1993392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68312" y="338328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N/A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82880" y="3877056"/>
            <a:ext cx="2331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8770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Price Books + CPQ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9464" y="3877056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60904" y="387705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Full quote builder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818888" y="3877056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387705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Basic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76872" y="3877056"/>
            <a:ext cx="199339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8312" y="3877056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Separate CPQ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82880" y="4370832"/>
            <a:ext cx="23317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370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9"/>
                </a:solidFill>
              </a:rPr>
              <a:t>Open TypeScript Stack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569464" y="4370832"/>
            <a:ext cx="2194560" cy="438912"/>
          </a:xfrm>
          <a:prstGeom prst="rect">
            <a:avLst/>
          </a:prstGeom>
          <a:solidFill>
            <a:srgbClr val="E6F3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60904" y="43708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 Monorepo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818888" y="4370832"/>
            <a:ext cx="2103120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0328" y="43708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Closed SaaS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976872" y="4370832"/>
            <a:ext cx="1993392" cy="438912"/>
          </a:xfrm>
          <a:prstGeom prst="rect">
            <a:avLst/>
          </a:prstGeom>
          <a:solidFill>
            <a:srgbClr val="ECEFF4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68312" y="4370832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58B"/>
                </a:solidFill>
              </a:rPr>
              <a:t>Varies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82880" y="486460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D60"/>
                </a:solidFill>
              </a:rPr>
              <a:t>ArborMind replaces 3–5 point solutions with one integrated, AI-native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COMMERCIALS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Packaging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9184" y="914400"/>
            <a:ext cx="8485632" cy="402336"/>
          </a:xfrm>
          <a:prstGeom prst="roundRect">
            <a:avLst>
              <a:gd name="adj" fmla="val 15909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14400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[ PLACEHOLDER — Pricing to be confirmed. Replace with agreed commercial terms before sharing externally.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26464"/>
            <a:ext cx="2743200" cy="354787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Starter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0F1729"/>
                </a:solidFill>
              </a:rPr>
              <a:t>[ $ TBD ]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4320" y="2386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58B"/>
                </a:solidFill>
              </a:rPr>
              <a:t>per user / month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2688336"/>
            <a:ext cx="2231136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For growing sales teams getting started.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Up to [X]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Lead &amp; Contact Mgmt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Opportunity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Basic Email Integration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Standard Reporting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90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[ X GB ] Storage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63824" y="1426464"/>
            <a:ext cx="2743200" cy="3547872"/>
          </a:xfrm>
          <a:prstGeom prst="roundRect">
            <a:avLst>
              <a:gd name="adj" fmla="val 3333"/>
            </a:avLst>
          </a:prstGeom>
          <a:solidFill>
            <a:srgbClr val="032D60"/>
          </a:solidFill>
          <a:ln w="25400">
            <a:solidFill>
              <a:srgbClr val="0375D3"/>
            </a:solidFill>
            <a:prstDash val="solid"/>
          </a:ln>
          <a:effectLst>
            <a:outerShdw sx="100000" sy="100000" kx="0" ky="0" algn="bl" rotWithShape="0" blurRad="177800" dist="50800" dir="2700000">
              <a:srgbClr val="032D6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0752" y="1197864"/>
            <a:ext cx="1609344" cy="329184"/>
          </a:xfrm>
          <a:prstGeom prst="roundRect">
            <a:avLst>
              <a:gd name="adj" fmla="val 19444"/>
            </a:avLst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19786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63824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AEFC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63824" y="1920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FFFFF"/>
                </a:solidFill>
              </a:rPr>
              <a:t>[ $ TBD ]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3163824" y="2386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CC8"/>
                </a:solidFill>
              </a:rPr>
              <a:t>per user / month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19856" y="2688336"/>
            <a:ext cx="2231136" cy="0"/>
          </a:xfrm>
          <a:prstGeom prst="line">
            <a:avLst/>
          </a:prstGeom>
          <a:noFill/>
          <a:ln w="9525">
            <a:solidFill>
              <a:srgbClr val="1A3C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EC8"/>
                </a:solidFill>
              </a:rPr>
              <a:t>Quotes, approvals, campaigns and AI intel.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46704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DF0"/>
                </a:solidFill>
              </a:rPr>
              <a:t>✓  Up to [X]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46704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DF0"/>
                </a:solidFill>
              </a:rPr>
              <a:t>✓  Everything in Starter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46704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DF0"/>
                </a:solidFill>
              </a:rPr>
              <a:t>✓  Quotes &amp; Price Books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46704" y="4041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DF0"/>
                </a:solidFill>
              </a:rPr>
              <a:t>✓  Approval Workflows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46704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DF0"/>
                </a:solidFill>
              </a:rPr>
              <a:t>✓  Marketing Campaigns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46704" y="4590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DF0"/>
                </a:solidFill>
              </a:rPr>
              <a:t>✓  AI Lead Intelligence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53328" y="1426464"/>
            <a:ext cx="2743200" cy="354787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2700000">
              <a:srgbClr val="032D6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53328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D60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53328" y="1920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0F1729"/>
                </a:solidFill>
              </a:rPr>
              <a:t>[ Custom ]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053328" y="2386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58B"/>
                </a:solidFill>
              </a:rPr>
              <a:t>annual contract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2688336"/>
            <a:ext cx="2231136" cy="0"/>
          </a:xfrm>
          <a:prstGeom prst="line">
            <a:avLst/>
          </a:prstGeom>
          <a:noFill/>
          <a:ln w="9525">
            <a:solidFill>
              <a:srgbClr val="D9E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</a:rPr>
              <a:t>Full CLM, unlimited users, dedicated support.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36208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Unlimited users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Everything in Professional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Contract Lifecycle (CLM)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4041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Record-Level Permissions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36208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Custom Integrations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36208" y="4590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9"/>
                </a:solidFill>
              </a:rPr>
              <a:t>✓  Dedicated CSM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773168"/>
            <a:ext cx="8595360" cy="237744"/>
          </a:xfrm>
          <a:prstGeom prst="roundRect">
            <a:avLst>
              <a:gd name="adj" fmla="val 19231"/>
            </a:avLst>
          </a:prstGeom>
          <a:solidFill>
            <a:srgbClr val="ECEFF4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5758B"/>
                </a:solidFill>
              </a:rPr>
              <a:t>[ All prices exclude applicable taxes ]  ·  [ Min. contract term: TBD ]  ·  [ Onboarding fee: TBD ]  ·  [ Volume discounts available 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2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68880" y="-1554480"/>
            <a:ext cx="4023360" cy="402336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3657600" cy="3657600"/>
          </a:xfrm>
          <a:prstGeom prst="ellipse">
            <a:avLst/>
          </a:prstGeom>
          <a:solidFill>
            <a:srgbClr val="4FAEFC">
              <a:alpha val="45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3657600"/>
            <a:ext cx="4572000" cy="4572000"/>
          </a:xfrm>
          <a:prstGeom prst="ellipse">
            <a:avLst/>
          </a:prstGeom>
          <a:solidFill>
            <a:srgbClr val="0375D3">
              <a:alpha val="45000"/>
            </a:srgbClr>
          </a:solidFill>
          <a:ln w="12700">
            <a:solidFill>
              <a:srgbClr val="0375D3">
                <a:alpha val="45000"/>
              </a:srgbClr>
            </a:solidFill>
            <a:prstDash val="solid"/>
          </a:ln>
        </p:spPr>
      </p:sp>
      <p:pic>
        <p:nvPicPr>
          <p:cNvPr id="5" name="Image 0" descr="C:\Partha\CRM\arbormindproduction\arbormindproduction\artifacts\crmai\public\arbormind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74320"/>
            <a:ext cx="2468880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78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FAEFC"/>
                </a:solidFill>
              </a:rPr>
              <a:t>READY TO TRANSFORM YOUR REVENUE CYCLE?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09728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EC8"/>
                </a:solidFill>
              </a:rPr>
              <a:t>Book a live demo and see ArborMind CRM in action with your own data.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87552" y="2944368"/>
            <a:ext cx="2450592" cy="1901952"/>
          </a:xfrm>
          <a:prstGeom prst="roundRect">
            <a:avLst>
              <a:gd name="adj" fmla="val 5769"/>
            </a:avLst>
          </a:prstGeom>
          <a:solidFill>
            <a:srgbClr val="0375D3">
              <a:alpha val="22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92808" y="3090672"/>
            <a:ext cx="640080" cy="640080"/>
          </a:xfrm>
          <a:prstGeom prst="ellipse">
            <a:avLst/>
          </a:prstGeom>
          <a:solidFill>
            <a:srgbClr val="0375D3"/>
          </a:solidFill>
          <a:ln w="12700">
            <a:solidFill>
              <a:srgbClr val="0375D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15" y="3143479"/>
            <a:ext cx="534467" cy="5344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381304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Live Demo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78992" y="413308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ACC8"/>
                </a:solidFill>
              </a:rPr>
              <a:t>45-minute deep dive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ACC8"/>
                </a:solidFill>
              </a:rPr>
              <a:t>with your use cases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21024" y="2944368"/>
            <a:ext cx="2450592" cy="1901952"/>
          </a:xfrm>
          <a:prstGeom prst="roundRect">
            <a:avLst>
              <a:gd name="adj" fmla="val 5769"/>
            </a:avLst>
          </a:prstGeom>
          <a:solidFill>
            <a:srgbClr val="0375D3">
              <a:alpha val="22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26280" y="3090672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087" y="3143479"/>
            <a:ext cx="534467" cy="5344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21024" y="381304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Pilot Setup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712464" y="413308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ACC8"/>
                </a:solidFill>
              </a:rPr>
              <a:t>Sandbox provisioned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ACC8"/>
                </a:solidFill>
              </a:rPr>
              <a:t>in under 24 hours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2944368"/>
            <a:ext cx="2450592" cy="1901952"/>
          </a:xfrm>
          <a:prstGeom prst="roundRect">
            <a:avLst>
              <a:gd name="adj" fmla="val 5769"/>
            </a:avLst>
          </a:prstGeom>
          <a:solidFill>
            <a:srgbClr val="0375D3">
              <a:alpha val="22000"/>
            </a:srgbClr>
          </a:solidFill>
          <a:ln w="12700">
            <a:solidFill>
              <a:srgbClr val="4FAEFC">
                <a:alpha val="45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59752" y="3090672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559" y="3143479"/>
            <a:ext cx="534467" cy="5344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54496" y="381304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Go Live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45936" y="4133088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ACC8"/>
                </a:solidFill>
              </a:rPr>
              <a:t>Onboarding &amp; migration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ACC8"/>
                </a:solidFill>
              </a:rPr>
              <a:t>support included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4060"/>
                </a:solidFill>
              </a:rPr>
              <a:t>arbormind.ai  ·  hello@arbormind.ai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ArborMind CRM — Pre-Sales Pitch</dc:title>
  <dc:subject>PptxGenJS Presentation</dc:subject>
  <dc:creator>PptxGenJS</dc:creator>
  <cp:lastModifiedBy>PptxGenJS</cp:lastModifiedBy>
  <cp:revision>1</cp:revision>
  <dcterms:created xsi:type="dcterms:W3CDTF">2026-06-29T10:40:56Z</dcterms:created>
  <dcterms:modified xsi:type="dcterms:W3CDTF">2026-06-29T10:40:56Z</dcterms:modified>
</cp:coreProperties>
</file>